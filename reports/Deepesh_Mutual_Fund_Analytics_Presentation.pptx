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003366"/>
                </a:solidFill>
              </a:rP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Analytics Internship Project</a:t>
            </a:r>
          </a:p>
          <a:p>
            <a:r>
              <a:t>Deepesh A</a:t>
            </a:r>
          </a:p>
          <a:p>
            <a:r>
              <a:t>Bluestock Fintech</a:t>
            </a:r>
          </a:p>
          <a:p>
            <a:r>
              <a:t>M.Sc. Computer Science, Mangalore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Intern: Deepesh A</a:t>
            </a:r>
          </a:p>
          <a:p>
            <a:pPr>
              <a:spcAft>
                <a:spcPts val="800"/>
              </a:spcAft>
              <a:defRPr sz="2400"/>
            </a:pPr>
            <a:r>
              <a:t>Role: Data Analytics Intern</a:t>
            </a:r>
          </a:p>
          <a:p>
            <a:pPr>
              <a:spcAft>
                <a:spcPts val="800"/>
              </a:spcAft>
              <a:defRPr sz="2400"/>
            </a:pPr>
            <a:r>
              <a:t>Organization: Bluestock Fintech</a:t>
            </a:r>
          </a:p>
          <a:p>
            <a:pPr>
              <a:spcAft>
                <a:spcPts val="800"/>
              </a:spcAft>
              <a:defRPr sz="2400"/>
            </a:pPr>
            <a:r>
              <a:t>Duration: Data Analytics Internship Program</a:t>
            </a:r>
          </a:p>
          <a:p>
            <a:pPr>
              <a:spcAft>
                <a:spcPts val="800"/>
              </a:spcAft>
              <a:defRPr sz="2400"/>
            </a:pPr>
            <a:r>
              <a:t>Project: Mutual Fund Analytics Platform</a:t>
            </a:r>
          </a:p>
          <a:p>
            <a:pPr>
              <a:spcAft>
                <a:spcPts val="800"/>
              </a:spcAft>
              <a:defRPr sz="2400"/>
            </a:pPr>
            <a:r>
              <a:t>Tools: Python, SQL, Power BI, Pandas, NumPy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Analyzed mutual fund performance, investor behavior, and market trends</a:t>
            </a:r>
          </a:p>
          <a:p>
            <a:pPr>
              <a:spcAft>
                <a:spcPts val="800"/>
              </a:spcAft>
              <a:defRPr sz="2400"/>
            </a:pPr>
            <a:r>
              <a:t>Processed 10+ datasets: NAV history, SIP inflows, transactions, holdings</a:t>
            </a:r>
          </a:p>
          <a:p>
            <a:pPr>
              <a:spcAft>
                <a:spcPts val="800"/>
              </a:spcAft>
              <a:defRPr sz="2400"/>
            </a:pPr>
            <a:r>
              <a:t>Calculated Sharpe, Sortino, Alpha, Beta, VaR, CVaR, Max Drawdown</a:t>
            </a:r>
          </a:p>
          <a:p>
            <a:pPr>
              <a:spcAft>
                <a:spcPts val="800"/>
              </a:spcAft>
              <a:defRPr sz="2400"/>
            </a:pPr>
            <a:r>
              <a:t>Performed cohort analysis &amp; SIP continuity (93.6% investors at-risk)</a:t>
            </a:r>
          </a:p>
          <a:p>
            <a:pPr>
              <a:spcAft>
                <a:spcPts val="800"/>
              </a:spcAft>
              <a:defRPr sz="2400"/>
            </a:pPr>
            <a:r>
              <a:t>Built 4-page interactive Power BI dashboard</a:t>
            </a:r>
          </a:p>
          <a:p>
            <a:pPr>
              <a:spcAft>
                <a:spcPts val="800"/>
              </a:spcAft>
              <a:defRPr sz="2400"/>
            </a:pPr>
            <a:r>
              <a:t>Developed simple recommendation engine by risk appetite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Problem</a:t>
            </a:r>
          </a:p>
          <a:p>
            <a:pPr>
              <a:defRPr sz="2000"/>
            </a:pPr>
            <a:r>
              <a:t>Too many schemes – hard to compare</a:t>
            </a:r>
          </a:p>
          <a:p>
            <a:pPr>
              <a:defRPr sz="2000"/>
            </a:pPr>
            <a:r>
              <a:t>Investors struggle with risk vs return</a:t>
            </a:r>
          </a:p>
          <a:p>
            <a:pPr>
              <a:defRPr sz="2000"/>
            </a:pPr>
            <a:r>
              <a:t>No unified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Objectives</a:t>
            </a:r>
          </a:p>
          <a:p>
            <a:pPr>
              <a:defRPr sz="2000"/>
            </a:pPr>
            <a:r>
              <a:t>Clean &amp; integrate mutual fund data</a:t>
            </a:r>
          </a:p>
          <a:p>
            <a:pPr>
              <a:defRPr sz="2000"/>
            </a:pPr>
            <a:r>
              <a:t>Calculate performance &amp; risk metrics</a:t>
            </a:r>
          </a:p>
          <a:p>
            <a:pPr>
              <a:defRPr sz="2000"/>
            </a:pPr>
            <a:r>
              <a:t>Analyze investor cohorts &amp; SIP behavior</a:t>
            </a:r>
          </a:p>
          <a:p>
            <a:pPr>
              <a:defRPr sz="2000"/>
            </a:pPr>
            <a:r>
              <a:t>Build Power BI dashboards</a:t>
            </a:r>
          </a:p>
          <a:p>
            <a:pPr>
              <a:defRPr sz="2000"/>
            </a:pPr>
            <a:r>
              <a:t>Recommend funds by risk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Python – data analysis &amp; financial calculations</a:t>
            </a:r>
          </a:p>
          <a:p>
            <a:pPr>
              <a:spcAft>
                <a:spcPts val="800"/>
              </a:spcAft>
              <a:defRPr sz="2400"/>
            </a:pPr>
            <a:r>
              <a:t>Pandas, NumPy – manipulation &amp; computation</a:t>
            </a:r>
          </a:p>
          <a:p>
            <a:pPr>
              <a:spcAft>
                <a:spcPts val="800"/>
              </a:spcAft>
              <a:defRPr sz="2400"/>
            </a:pPr>
            <a:r>
              <a:t>Matplotlib – visualizations</a:t>
            </a:r>
          </a:p>
          <a:p>
            <a:pPr>
              <a:spcAft>
                <a:spcPts val="800"/>
              </a:spcAft>
              <a:defRPr sz="2400"/>
            </a:pPr>
            <a:r>
              <a:t>SQLite &amp; SQL – data storage &amp; querying</a:t>
            </a:r>
          </a:p>
          <a:p>
            <a:pPr>
              <a:spcAft>
                <a:spcPts val="800"/>
              </a:spcAft>
              <a:defRPr sz="2400"/>
            </a:pPr>
            <a:r>
              <a:t>Power BI – interactive dashboards</a:t>
            </a:r>
          </a:p>
          <a:p>
            <a:pPr>
              <a:spcAft>
                <a:spcPts val="800"/>
              </a:spcAft>
              <a:defRPr sz="2400"/>
            </a:pPr>
            <a:r>
              <a:t>Jupyter Notebook – analysis documentation</a:t>
            </a:r>
          </a:p>
          <a:p>
            <a:pPr>
              <a:spcAft>
                <a:spcPts val="800"/>
              </a:spcAft>
              <a:defRPr sz="2400"/>
            </a:pPr>
            <a:r>
              <a:t>Git &amp; GitHub – 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01_fund_master.csv – scheme details, AUM, expense ratio</a:t>
            </a:r>
          </a:p>
          <a:p>
            <a:pPr>
              <a:spcAft>
                <a:spcPts val="800"/>
              </a:spcAft>
              <a:defRPr sz="2400"/>
            </a:pPr>
            <a:r>
              <a:t>02_nav_history.csv – daily NAV for returns calculation</a:t>
            </a:r>
          </a:p>
          <a:p>
            <a:pPr>
              <a:spcAft>
                <a:spcPts val="800"/>
              </a:spcAft>
              <a:defRPr sz="2400"/>
            </a:pPr>
            <a:r>
              <a:t>04_monthly_sip_inflows.csv – SIP trends</a:t>
            </a:r>
          </a:p>
          <a:p>
            <a:pPr>
              <a:spcAft>
                <a:spcPts val="800"/>
              </a:spcAft>
              <a:defRPr sz="2400"/>
            </a:pPr>
            <a:r>
              <a:t>07_scheme_performance.csv – returns, Alpha, Beta, Sharpe</a:t>
            </a:r>
          </a:p>
          <a:p>
            <a:pPr>
              <a:spcAft>
                <a:spcPts val="800"/>
              </a:spcAft>
              <a:defRPr sz="2400"/>
            </a:pPr>
            <a:r>
              <a:t>08_investor_transactions.csv – demographics &amp; behavior</a:t>
            </a:r>
          </a:p>
          <a:p>
            <a:pPr>
              <a:spcAft>
                <a:spcPts val="800"/>
              </a:spcAft>
              <a:defRPr sz="2400"/>
            </a:pPr>
            <a:r>
              <a:t>09_portfolio_holdings.csv – HHI concentration</a:t>
            </a:r>
          </a:p>
          <a:p>
            <a:pPr>
              <a:spcAft>
                <a:spcPts val="800"/>
              </a:spcAft>
              <a:defRPr sz="2400"/>
            </a:pPr>
            <a:r>
              <a:t>10_benchmark_indices.csv – Nifty 50/100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Handled missing values (mean/median imputation)</a:t>
            </a:r>
          </a:p>
          <a:p>
            <a:pPr>
              <a:spcAft>
                <a:spcPts val="800"/>
              </a:spcAft>
              <a:defRPr sz="2400"/>
            </a:pPr>
            <a:r>
              <a:t>Removed duplicates across 10 datasets</a:t>
            </a:r>
          </a:p>
          <a:p>
            <a:pPr>
              <a:spcAft>
                <a:spcPts val="800"/>
              </a:spcAft>
              <a:defRPr sz="2400"/>
            </a:pPr>
            <a:r>
              <a:t>Standardized dates with pd.to_datetime()</a:t>
            </a:r>
          </a:p>
          <a:p>
            <a:pPr>
              <a:spcAft>
                <a:spcPts val="800"/>
              </a:spcAft>
              <a:defRPr sz="2400"/>
            </a:pPr>
            <a:r>
              <a:t>Engineered features: daily returns, cohort year, SIP gaps</a:t>
            </a:r>
          </a:p>
          <a:p>
            <a:pPr>
              <a:spcAft>
                <a:spcPts val="800"/>
              </a:spcAft>
              <a:defRPr sz="2400"/>
            </a:pPr>
            <a:r>
              <a:t>Created cleaned datasets: nav_history_clean, returns_computed</a:t>
            </a:r>
          </a:p>
          <a:p>
            <a:pPr>
              <a:spcAft>
                <a:spcPts val="800"/>
              </a:spcAft>
              <a:defRPr sz="2400"/>
            </a:pPr>
            <a:r>
              <a:t>Validated data quality for accurate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-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Equity funds dominate AUM and folio count</a:t>
            </a:r>
          </a:p>
          <a:p>
            <a:pPr>
              <a:spcAft>
                <a:spcPts val="800"/>
              </a:spcAft>
              <a:defRPr sz="2400"/>
            </a:pPr>
            <a:r>
              <a:t>SIP inflows show consistent growth</a:t>
            </a:r>
          </a:p>
          <a:p>
            <a:pPr>
              <a:spcAft>
                <a:spcPts val="800"/>
              </a:spcAft>
              <a:defRPr sz="2400"/>
            </a:pPr>
            <a:r>
              <a:t>Mid-cap &amp; small-cap delivered highest long-term returns</a:t>
            </a:r>
          </a:p>
          <a:p>
            <a:pPr>
              <a:spcAft>
                <a:spcPts val="800"/>
              </a:spcAft>
              <a:defRPr sz="2400"/>
            </a:pPr>
            <a:r>
              <a:t>Tier-1 cities lead, Tier-2/3 growing fast</a:t>
            </a:r>
          </a:p>
          <a:p>
            <a:pPr>
              <a:spcAft>
                <a:spcPts val="800"/>
              </a:spcAft>
              <a:defRPr sz="2400"/>
            </a:pPr>
            <a:r>
              <a:t>Large AUM ≠ higher returns – risk-adjusted matters</a:t>
            </a:r>
          </a:p>
          <a:p>
            <a:pPr>
              <a:spcAft>
                <a:spcPts val="800"/>
              </a:spcAft>
              <a:defRPr sz="2400"/>
            </a:pPr>
            <a:r>
              <a:t>Return distributions suitable for VaR/CVaR modeling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Top 3-Yr CAGR: Axis Midcap 36.07%, HDFC Mid-Cap 33.63%</a:t>
            </a:r>
          </a:p>
          <a:p>
            <a:pPr>
              <a:spcAft>
                <a:spcPts val="800"/>
              </a:spcAft>
              <a:defRPr sz="2400"/>
            </a:pPr>
            <a:r>
              <a:t>Best Sharpe Ratio: Mirae Asset Large Cap (1.45)</a:t>
            </a:r>
          </a:p>
          <a:p>
            <a:pPr>
              <a:spcAft>
                <a:spcPts val="800"/>
              </a:spcAft>
              <a:defRPr sz="2400"/>
            </a:pPr>
            <a:r>
              <a:t>Best Sortino Ratio: Mirae Asset Large Cap (2.39)</a:t>
            </a:r>
          </a:p>
          <a:p>
            <a:pPr>
              <a:spcAft>
                <a:spcPts val="800"/>
              </a:spcAft>
              <a:defRPr sz="2400"/>
            </a:pPr>
            <a:r>
              <a:t>Top Alpha: SBI Small Cap (0.303), DSP Small Cap (0.301)</a:t>
            </a:r>
          </a:p>
          <a:p>
            <a:pPr>
              <a:spcAft>
                <a:spcPts val="800"/>
              </a:spcAft>
              <a:defRPr sz="2400"/>
            </a:pPr>
            <a:r>
              <a:t>Max Drawdown: Small-caps worst (-52.57% SBI Small Cap)</a:t>
            </a:r>
          </a:p>
          <a:p>
            <a:pPr>
              <a:spcAft>
                <a:spcPts val="800"/>
              </a:spcAft>
              <a:defRPr sz="2400"/>
            </a:pPr>
            <a:r>
              <a:t>Composite Scorecard Winner: Mirae Asset Tax Saver (100)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VaR 95%: ABSL Small Cap -2.60% (highest risk)</a:t>
            </a:r>
          </a:p>
          <a:p>
            <a:pPr>
              <a:spcAft>
                <a:spcPts val="800"/>
              </a:spcAft>
              <a:defRPr sz="2400"/>
            </a:pPr>
            <a:r>
              <a:t>CVaR 95%: ABSL Small Cap -3.25% average tail loss</a:t>
            </a:r>
          </a:p>
          <a:p>
            <a:pPr>
              <a:spcAft>
                <a:spcPts val="800"/>
              </a:spcAft>
              <a:defRPr sz="2400"/>
            </a:pPr>
            <a:r>
              <a:t>Rolling 90-day Sharpe: liquid funds most stable</a:t>
            </a:r>
          </a:p>
          <a:p>
            <a:pPr>
              <a:spcAft>
                <a:spcPts val="800"/>
              </a:spcAft>
              <a:defRPr sz="2400"/>
            </a:pPr>
            <a:r>
              <a:t>Cohort Analysis: 2024 cohort invested ₹349.11 Cr (largest)</a:t>
            </a:r>
          </a:p>
          <a:p>
            <a:pPr>
              <a:spcAft>
                <a:spcPts val="800"/>
              </a:spcAft>
              <a:defRPr sz="2400"/>
            </a:pPr>
            <a:r>
              <a:t>SIP Continuity: 2,762 at-risk vs 188 healthy (93.6% at-risk)</a:t>
            </a:r>
          </a:p>
          <a:p>
            <a:pPr>
              <a:spcAft>
                <a:spcPts val="800"/>
              </a:spcAft>
              <a:defRPr sz="2400"/>
            </a:pPr>
            <a:r>
              <a:t>HHI Concentration: Axis Bluechip 0.206 (most concentrated)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– 4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Page 1 – Industry Overview: Total AUM, SIP inflows, folio growth</a:t>
            </a:r>
          </a:p>
          <a:p>
            <a:pPr>
              <a:spcAft>
                <a:spcPts val="800"/>
              </a:spcAft>
              <a:defRPr sz="2400"/>
            </a:pPr>
            <a:r>
              <a:t>Page 2 – Fund Performance: Sharpe, Alpha, Risk vs Return scatter</a:t>
            </a:r>
          </a:p>
          <a:p>
            <a:pPr>
              <a:spcAft>
                <a:spcPts val="800"/>
              </a:spcAft>
              <a:defRPr sz="2400"/>
            </a:pPr>
            <a:r>
              <a:t>Page 3 – Investor Analytics: Age, income, geography, transactions</a:t>
            </a:r>
          </a:p>
          <a:p>
            <a:pPr>
              <a:spcAft>
                <a:spcPts val="800"/>
              </a:spcAft>
              <a:defRPr sz="2400"/>
            </a:pPr>
            <a:r>
              <a:t>Page 4 – SIP &amp; Market Trends: Monthly inflows, category flows</a:t>
            </a:r>
          </a:p>
          <a:p>
            <a:pPr>
              <a:spcAft>
                <a:spcPts val="800"/>
              </a:spcAft>
              <a:defRPr sz="2400"/>
            </a:pPr>
            <a:r>
              <a:t>Features: Slicers, cross-filtering, drill-down, tooltips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Mirae Asset Large Cap best risk-adjusted performance</a:t>
            </a:r>
          </a:p>
          <a:p>
            <a:pPr>
              <a:spcAft>
                <a:spcPts val="800"/>
              </a:spcAft>
              <a:defRPr sz="2400"/>
            </a:pPr>
            <a:r>
              <a:t>Mid-caps lead returns but small-caps carry extreme drawdowns</a:t>
            </a:r>
          </a:p>
          <a:p>
            <a:pPr>
              <a:spcAft>
                <a:spcPts val="800"/>
              </a:spcAft>
              <a:defRPr sz="2400"/>
            </a:pPr>
            <a:r>
              <a:t>SIP culture growing – strong retail confidence</a:t>
            </a:r>
          </a:p>
          <a:p>
            <a:pPr>
              <a:spcAft>
                <a:spcPts val="800"/>
              </a:spcAft>
              <a:defRPr sz="2400"/>
            </a:pPr>
            <a:r>
              <a:t>93.6% investors show irregular SIP behavior – retention opportunity</a:t>
            </a:r>
          </a:p>
          <a:p>
            <a:pPr>
              <a:spcAft>
                <a:spcPts val="800"/>
              </a:spcAft>
              <a:defRPr sz="2400"/>
            </a:pPr>
            <a:r>
              <a:t>Portfolio concentration risk identified via HHI</a:t>
            </a:r>
          </a:p>
          <a:p>
            <a:pPr>
              <a:spcAft>
                <a:spcPts val="800"/>
              </a:spcAft>
              <a:defRPr sz="2400"/>
            </a:pPr>
            <a:r>
              <a:t>Recommendation engine matches funds to Low/Moderate/High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 &amp; 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Technical: Python, Pandas, SQL, Power BI, financial metrics</a:t>
            </a:r>
          </a:p>
          <a:p>
            <a:pPr>
              <a:spcAft>
                <a:spcPts val="800"/>
              </a:spcAft>
              <a:defRPr sz="2400"/>
            </a:pPr>
            <a:r>
              <a:t>Analytics: VaR/CVaR, Sharpe/Sortino, cohort analysis, HHI</a:t>
            </a:r>
          </a:p>
          <a:p>
            <a:pPr>
              <a:spcAft>
                <a:spcPts val="800"/>
              </a:spcAft>
              <a:defRPr sz="2400"/>
            </a:pPr>
            <a:r>
              <a:t>Business: Mutual fund industry, investor behavior, risk management</a:t>
            </a:r>
          </a:p>
          <a:p>
            <a:pPr>
              <a:spcAft>
                <a:spcPts val="800"/>
              </a:spcAft>
              <a:defRPr sz="2400"/>
            </a:pPr>
            <a:r>
              <a:t>Professional: Problem-solving, documentation,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400"/>
            </a:pPr>
            <a:r>
              <a:t>Successfully built end-to-end analytics platform</a:t>
            </a:r>
          </a:p>
          <a:p>
            <a:pPr>
              <a:spcAft>
                <a:spcPts val="800"/>
              </a:spcAft>
              <a:defRPr sz="2400"/>
            </a:pPr>
            <a:r>
              <a:t>Integrated data engineering + financial analytics + BI</a:t>
            </a:r>
          </a:p>
          <a:p>
            <a:pPr>
              <a:spcAft>
                <a:spcPts val="800"/>
              </a:spcAft>
              <a:defRPr sz="2400"/>
            </a:pPr>
            <a:r>
              <a:t>Future: Real-time NAV API integration</a:t>
            </a:r>
          </a:p>
          <a:p>
            <a:pPr>
              <a:spcAft>
                <a:spcPts val="800"/>
              </a:spcAft>
              <a:defRPr sz="2400"/>
            </a:pPr>
            <a:r>
              <a:t>ML models for return prediction &amp; churn</a:t>
            </a:r>
          </a:p>
          <a:p>
            <a:pPr>
              <a:spcAft>
                <a:spcPts val="800"/>
              </a:spcAft>
              <a:defRPr sz="2400"/>
            </a:pPr>
            <a:r>
              <a:t>Personalized goal-based recommendations</a:t>
            </a:r>
          </a:p>
          <a:p>
            <a:pPr>
              <a:spcAft>
                <a:spcPts val="800"/>
              </a:spcAft>
              <a:defRPr sz="2400"/>
            </a:pPr>
            <a:r>
              <a:t>Web portal with user logins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>
                <a:solidFill>
                  <a:srgbClr val="003366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Deepesh A</a:t>
            </a:r>
          </a:p>
          <a:p>
            <a:r>
              <a:t>Data Analytics Intern – Bluestock Fintech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